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32"/>
  </p:notesMasterIdLst>
  <p:handoutMasterIdLst>
    <p:handoutMasterId r:id="rId33"/>
  </p:handoutMasterIdLst>
  <p:sldIdLst>
    <p:sldId id="272" r:id="rId3"/>
    <p:sldId id="268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308" r:id="rId26"/>
    <p:sldId id="309" r:id="rId27"/>
    <p:sldId id="310" r:id="rId28"/>
    <p:sldId id="311" r:id="rId29"/>
    <p:sldId id="312" r:id="rId30"/>
    <p:sldId id="313" r:id="rId31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0E2"/>
    <a:srgbClr val="DBDDDC"/>
    <a:srgbClr val="BC6501"/>
    <a:srgbClr val="F3850B"/>
    <a:srgbClr val="FFCC66"/>
    <a:srgbClr val="B9B9B9"/>
    <a:srgbClr val="E0AC00"/>
    <a:srgbClr val="68676C"/>
    <a:srgbClr val="8D9DD8"/>
    <a:srgbClr val="953D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34" autoAdjust="0"/>
    <p:restoredTop sz="94660"/>
  </p:normalViewPr>
  <p:slideViewPr>
    <p:cSldViewPr showGuides="1">
      <p:cViewPr varScale="1">
        <p:scale>
          <a:sx n="72" d="100"/>
          <a:sy n="72" d="100"/>
        </p:scale>
        <p:origin x="270" y="66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17" d="100"/>
          <a:sy n="117" d="100"/>
        </p:scale>
        <p:origin x="1206" y="90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2025-04-01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직사각형 2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4/1/2025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직사각형 1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4/1/2025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4/1/2025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1" name="직사각형 20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4/1/2025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8258848" y="375829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312354" y="25569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22" name="직사각형 2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1" name="직사각형 20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직사각형 15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8258848" y="375829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25569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22" name="직사각형 2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8232497" y="420531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691650" y="1067113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/>
              <a:t>4.1      4. </a:t>
            </a:r>
            <a:r>
              <a:rPr lang="ko-KR" altLang="en-US" sz="2600"/>
              <a:t>자연어 </a:t>
            </a:r>
            <a:r>
              <a:rPr lang="ko-KR" altLang="en-US" sz="2600" dirty="0" err="1"/>
              <a:t>처리란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A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2786183" y="2358495"/>
            <a:ext cx="748891" cy="979319"/>
          </a:xfrm>
          <a:prstGeom prst="rect">
            <a:avLst/>
          </a:prstGeom>
          <a:solidFill>
            <a:srgbClr val="E1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자연어 </a:t>
            </a:r>
            <a:r>
              <a:rPr lang="ko-KR" altLang="en-US" dirty="0" err="1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처리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우리가 일상생활에서 사용하는 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언어 의미를 분석하여 컴퓨터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처리할 수 있도록 하는 과정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대한 이해도 필요하지만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그에 앞서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인간 언어에 대한 이해도 필요하기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때문에 접근하기 어려운 분야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언어 종류가 다르고 그 형태가 다양하기 때문에 처리가 매우 어려움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영어는 명확한 띄어쓰기가 있지만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중국어는 띄어쓰기가 없기 때문에 단어 단위의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어려움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처리를 위해 사용되는 용어들도 낯 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번역을 위해 시작해서 비교적 일찍 시작된 분야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언어 영역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Natural Language Processing</a:t>
            </a:r>
          </a:p>
          <a:p>
            <a:pPr marL="334963" lvl="1" indent="0">
              <a:buNone/>
            </a:pP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NLP</a:t>
            </a:r>
          </a:p>
          <a:p>
            <a:pPr marL="334963" lvl="1" indent="0">
              <a:buNone/>
            </a:pP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42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그림은 자연어 처리가 가능한 영역과 발전이 필요한 분야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스팸 처리 및 맞춤법 검사는 완성도가 높은 반면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질의응답 및 대화는 아직 발전이 더 필요한 분야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DC889D7-4C0B-44BF-B809-50CAC8A68AAA}"/>
              </a:ext>
            </a:extLst>
          </p:cNvPr>
          <p:cNvSpPr txBox="1">
            <a:spLocks/>
          </p:cNvSpPr>
          <p:nvPr/>
        </p:nvSpPr>
        <p:spPr>
          <a:xfrm>
            <a:off x="597117" y="2855817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</a:t>
            </a:r>
            <a:r>
              <a:rPr lang="ko-KR" altLang="en-US" sz="1600" b="1"/>
              <a:t>그림 </a:t>
            </a:r>
            <a:r>
              <a:rPr lang="en-US" altLang="ko-KR" sz="1600" b="1"/>
              <a:t>-1 </a:t>
            </a:r>
            <a:r>
              <a:rPr lang="ko-KR" altLang="en-US" sz="1600" b="1" dirty="0"/>
              <a:t>자연어 처리 완성도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7A6459-65F5-48C3-A678-4E401951A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3221879"/>
            <a:ext cx="46101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7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자연어 처리 관련 </a:t>
            </a:r>
            <a:r>
              <a:rPr lang="ko-KR" altLang="en-US" b="1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용어</a:t>
            </a: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       말뭉치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(corpus(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코퍼스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))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처리에서 모델을 학습시키기 위한 데이터이며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연구를 위해 특정한 목적에서 표본을 추출한 집합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E7358B-9206-4926-B999-048F47927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2276860"/>
            <a:ext cx="76200" cy="7620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EA4BAEFF-6F05-4F8B-A9C8-65C3AE930A13}"/>
              </a:ext>
            </a:extLst>
          </p:cNvPr>
          <p:cNvSpPr txBox="1">
            <a:spLocks/>
          </p:cNvSpPr>
          <p:nvPr/>
        </p:nvSpPr>
        <p:spPr>
          <a:xfrm>
            <a:off x="597117" y="2910537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-2 </a:t>
            </a:r>
            <a:r>
              <a:rPr lang="ko-KR" altLang="en-US" sz="1600" b="1" dirty="0"/>
              <a:t>말뭉치</a:t>
            </a:r>
            <a:r>
              <a:rPr lang="en-US" altLang="ko-KR" sz="1600" b="1" dirty="0"/>
              <a:t>(corpus)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DB280E7-1050-4D4F-9F12-0B8776FF0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3254038"/>
            <a:ext cx="489585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38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b="1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토큰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(token)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처리를 위한 문서는 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작은 단위로 나누어야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하는데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문서를 나누는 단위가 토큰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문자열을 토큰으로 나누는 작업을 토큰 생성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(tokenizing)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하며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문자열을 토큰으로 분리하는 함수를 토큰 생성 함수라고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b="1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토큰화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(tokenization)</a:t>
            </a:r>
            <a:r>
              <a:rPr lang="en-US" altLang="ko-KR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텍스트를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문장이나 단어로 분리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하는 것을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토큰화 단계를 마치면 텍스트가 단어 단위로 분리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b="1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불용어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(stop words):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문장 내에서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많이 등장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하는 단어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분석과 관계없으며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자주 등장하는 빈도 때문에 성능에 영향을 미치므로 사전에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제거해 주어야 함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불용어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예로 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a”, “the”, “she”, “he”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등이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690A7B7-4392-4DAD-9DF8-E76BA1BE4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1970232"/>
            <a:ext cx="76200" cy="76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B7F5B1B-8CBC-473A-965A-C3E79E047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601821"/>
            <a:ext cx="76200" cy="762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589F986-3172-404D-AB36-B70E7BF56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4620154"/>
            <a:ext cx="762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01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       </a:t>
            </a:r>
            <a:r>
              <a:rPr lang="ko-KR" altLang="en-US" b="1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어간 추출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(stemming):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단어를 기본 형태로 만드는 작업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consign’, ‘consigned’, ‘consigning’, ‘consignment’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있을 때 기본 단어인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consign’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통일하는 것이 어간 추출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690A7B7-4392-4DAD-9DF8-E76BA1BE4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1970232"/>
            <a:ext cx="76200" cy="7620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F8D0AD75-8695-4D2A-88BF-FA1BB0B26F33}"/>
              </a:ext>
            </a:extLst>
          </p:cNvPr>
          <p:cNvSpPr txBox="1">
            <a:spLocks/>
          </p:cNvSpPr>
          <p:nvPr/>
        </p:nvSpPr>
        <p:spPr>
          <a:xfrm>
            <a:off x="597117" y="2910537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</a:t>
            </a:r>
            <a:r>
              <a:rPr lang="ko-KR" altLang="en-US" sz="1600" b="1"/>
              <a:t>그림 </a:t>
            </a:r>
            <a:r>
              <a:rPr lang="en-US" altLang="ko-KR" sz="1600" b="1"/>
              <a:t>-3 </a:t>
            </a:r>
            <a:r>
              <a:rPr lang="ko-KR" altLang="en-US" sz="1600" b="1" dirty="0"/>
              <a:t>어간 추출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828044-956C-4841-B25D-2206B0177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3279722"/>
            <a:ext cx="2295525" cy="1647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78185A-C81C-42EA-B6B6-7D17BDD571FB}"/>
              </a:ext>
            </a:extLst>
          </p:cNvPr>
          <p:cNvSpPr txBox="1"/>
          <p:nvPr/>
        </p:nvSpPr>
        <p:spPr>
          <a:xfrm>
            <a:off x="4550636" y="13938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4963" lvl="1" indent="0">
              <a:buNone/>
            </a:pPr>
            <a:r>
              <a:rPr lang="en-US" altLang="ko-KR" sz="180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Stem 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줄기</a:t>
            </a:r>
            <a:endParaRPr lang="en-US" altLang="ko-KR" sz="1800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895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       품사 </a:t>
            </a: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태깅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(part-of-speech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tagging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주어진 문장에서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품사를 식별하기 위해 붙여 주는 태그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식별 정보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690A7B7-4392-4DAD-9DF8-E76BA1BE4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1970232"/>
            <a:ext cx="76200" cy="7620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F8D0AD75-8695-4D2A-88BF-FA1BB0B26F33}"/>
              </a:ext>
            </a:extLst>
          </p:cNvPr>
          <p:cNvSpPr txBox="1">
            <a:spLocks/>
          </p:cNvSpPr>
          <p:nvPr/>
        </p:nvSpPr>
        <p:spPr>
          <a:xfrm>
            <a:off x="597117" y="2567782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</a:t>
            </a:r>
            <a:r>
              <a:rPr lang="ko-KR" altLang="en-US" sz="1600" b="1"/>
              <a:t>그림 </a:t>
            </a:r>
            <a:r>
              <a:rPr lang="en-US" altLang="ko-KR" sz="1600" b="1"/>
              <a:t>-4 </a:t>
            </a:r>
            <a:r>
              <a:rPr lang="ko-KR" altLang="en-US" sz="1600" b="1" dirty="0"/>
              <a:t>품사 </a:t>
            </a:r>
            <a:r>
              <a:rPr lang="ko-KR" altLang="en-US" sz="1600" b="1" dirty="0" err="1"/>
              <a:t>태깅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744EBF-6EEC-426D-970D-1158B2EEF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31" y="3027849"/>
            <a:ext cx="56483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9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품사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위한 정보는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Det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한정사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Noun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명사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Verb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동사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Prep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전치사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품사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NLTK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이용할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19D98C-E7B1-4294-9651-AC356386A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2680109"/>
            <a:ext cx="76200" cy="76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346316E-D669-4D23-B41C-36758F06A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3007158"/>
            <a:ext cx="76200" cy="76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A9C3563-8742-4071-9161-D54479512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295193"/>
            <a:ext cx="76200" cy="762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30F6447-7EF9-45DD-AF82-8B8445395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640835"/>
            <a:ext cx="76200" cy="76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C62D73-4304-47C9-A449-169C0C28D596}"/>
              </a:ext>
            </a:extLst>
          </p:cNvPr>
          <p:cNvSpPr txBox="1"/>
          <p:nvPr/>
        </p:nvSpPr>
        <p:spPr>
          <a:xfrm>
            <a:off x="2037292" y="463874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4963" lvl="1" indent="0">
              <a:buNone/>
            </a:pP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자연어 처리 라이브러리</a:t>
            </a:r>
            <a:endParaRPr lang="en-US" altLang="ko-KR" sz="1800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210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NLTK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아나콘다가 설치되어 있다면 추가적으로 설치할 필요가 없지만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책에서는 가상 환경에서 실습하므로 다음 명령으로 설치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6191CA-11DF-49CB-B6EA-A87D684F2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87" y="2449681"/>
            <a:ext cx="15240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11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품사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위해 주어진 문장에 대해 토큰화를 먼저 진행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코드를 실행하면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NLTK Downloader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창이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Download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눌러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내려받음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E66C41-E969-465F-9F80-60527E2F6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36" y="3025751"/>
            <a:ext cx="708660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70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NLTK Downloader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주피터 노트북에서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nltk.download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코드를 실행하면 다음과 같이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NLTK Downloader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창이 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윈도에서는 작업 표시줄에    표시로 나타남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왼쪽 아래의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Download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눌러야 관련 패키지 등을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내려받을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내려받기가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완료된 후에는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File &gt; Exit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선택해야 다음 단계를 진행할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4772FD-19EE-4F92-8134-FB634D63F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319" y="2507288"/>
            <a:ext cx="20002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4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내려받은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자원을 이용하여 품사를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A1BC16-1AD6-4038-BD0B-A4B131146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4767"/>
            <a:ext cx="9115355" cy="96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2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품사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대한 출력 결과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762F47-8B54-4D77-BC4C-E3A5F954E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528887"/>
            <a:ext cx="2943448" cy="239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65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여기에서 사용되는 품사 의미는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VBZ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동사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동명사 또는 현재 분사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PRP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인칭 대명사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(PP)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JJ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형용사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VBG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동사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동명사 또는 현재 분사</a:t>
            </a:r>
          </a:p>
          <a:p>
            <a:pPr marL="334963" lvl="1" indent="0">
              <a:buNone/>
            </a:pP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       NNS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명사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복수형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CC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등위 접속사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81366AF-4714-46EB-8653-CFD34041F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2661516"/>
            <a:ext cx="76200" cy="76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FCC9B63-AF3A-47EF-8A3A-817C74276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2968144"/>
            <a:ext cx="76200" cy="76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1A7C114-4386-419E-A698-6DC774A6C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295193"/>
            <a:ext cx="76200" cy="76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DD2227D-D8D5-463C-A6FF-DC2D579AC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640835"/>
            <a:ext cx="76200" cy="76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2260DD5-08A4-411E-A756-E68BB87A8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986477"/>
            <a:ext cx="76200" cy="762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3CFF818-2ED9-4F9A-B560-BD8368F9D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4293105"/>
            <a:ext cx="762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11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자연어 처리 과정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자연어는 인간 언어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인간 언어는 컴퓨터가 이해할 수 없기 때문에 컴퓨터가 이해할 수 있는 언어로 바꾸고 원하는 결과를 얻기까지 크게 네 단계를 거침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첫 번째로 인간 언어인 자연어가 입력 텍스트로 들어오게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인간 언어가 다양하듯 처리 방식이 조금씩 다르며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현재는 영어에 대한 처리 방법들이 잘 알려져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두 번째로는 입력된 텍스트에 대한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과정이 필요함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세 번째로 전처리가 끝난 단어들을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3909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마지막으로 컴퓨터가 이해할 수 있는 데이터가 완성되었기 때문에 모델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/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모형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결정 트리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이용하여 데이터에 대한 분류 및 예측을 수행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데이터 유형에 따라 분류와 예측에 대한 결과가 달라짐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D83F99-9DD8-4A44-83E4-811ED1D5F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113" y="2161646"/>
            <a:ext cx="17145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13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BAB1AF3-5EA1-4FC5-8A2E-AC9888559471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-6 </a:t>
            </a:r>
            <a:r>
              <a:rPr lang="ko-KR" altLang="en-US" sz="1600" b="1" dirty="0">
                <a:solidFill>
                  <a:srgbClr val="0070C0"/>
                </a:solidFill>
              </a:rPr>
              <a:t>자연어 처리 과정</a:t>
            </a:r>
            <a:endParaRPr lang="ko-KR" altLang="en-US" sz="1600" dirty="0">
              <a:solidFill>
                <a:srgbClr val="0070C0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3E233A9-1DD8-47D5-B352-84C1E2DCA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983869"/>
            <a:ext cx="5895975" cy="3343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7BE97-9E9E-4E44-864F-64C2986FB1C6}"/>
              </a:ext>
            </a:extLst>
          </p:cNvPr>
          <p:cNvSpPr txBox="1"/>
          <p:nvPr/>
        </p:nvSpPr>
        <p:spPr>
          <a:xfrm>
            <a:off x="-382202" y="5588628"/>
            <a:ext cx="7143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4963" lvl="1" indent="0">
              <a:buNone/>
            </a:pP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Text -&gt; 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쪼개기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제거하기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중요한 단어 추출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, 0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과 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로 전환  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-&gt;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2216D8-C458-4259-80FC-7CE7B466925A}"/>
              </a:ext>
            </a:extLst>
          </p:cNvPr>
          <p:cNvSpPr txBox="1"/>
          <p:nvPr/>
        </p:nvSpPr>
        <p:spPr>
          <a:xfrm>
            <a:off x="4456786" y="1269372"/>
            <a:ext cx="25923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4963" lvl="1" indent="0">
              <a:buNone/>
            </a:pP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이 과정에서 기계학습일지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딥러닝일지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결정됨 </a:t>
            </a:r>
            <a:endParaRPr lang="en-US" altLang="ko-KR" sz="1800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E9CE6-EDBA-4533-B679-5DCA946956AF}"/>
              </a:ext>
            </a:extLst>
          </p:cNvPr>
          <p:cNvSpPr txBox="1"/>
          <p:nvPr/>
        </p:nvSpPr>
        <p:spPr>
          <a:xfrm>
            <a:off x="-382202" y="5986184"/>
            <a:ext cx="80006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4963" lvl="1" indent="0">
              <a:buNone/>
            </a:pP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embedding(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단어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&gt;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벡터 변환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sz="1800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컴공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: 1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차원 배열 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= 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벡터 </a:t>
            </a:r>
            <a:endParaRPr lang="en-US" altLang="ko-KR" sz="1800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물리학벡터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크기와 방향을 가진 변수 </a:t>
            </a:r>
            <a:endParaRPr lang="en-US" altLang="ko-KR" sz="1800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E81554-41D5-43FA-94EE-0C5E5F94957B}"/>
              </a:ext>
            </a:extLst>
          </p:cNvPr>
          <p:cNvSpPr txBox="1"/>
          <p:nvPr/>
        </p:nvSpPr>
        <p:spPr>
          <a:xfrm>
            <a:off x="6242602" y="3101460"/>
            <a:ext cx="29013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4963" lvl="1" indent="0">
              <a:buNone/>
            </a:pP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1 -&gt; Vector</a:t>
            </a:r>
          </a:p>
          <a:p>
            <a:pPr marL="334963" lvl="1" indent="0">
              <a:buNone/>
            </a:pP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2 -&gt; Matrix  -&gt;Tensor</a:t>
            </a:r>
          </a:p>
          <a:p>
            <a:pPr marL="334963" lvl="1" indent="0">
              <a:buNone/>
            </a:pP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3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이상 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Array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9F1B9B-9776-4868-84C6-9A17757CBDDF}"/>
              </a:ext>
            </a:extLst>
          </p:cNvPr>
          <p:cNvSpPr txBox="1"/>
          <p:nvPr/>
        </p:nvSpPr>
        <p:spPr>
          <a:xfrm>
            <a:off x="3765502" y="624633"/>
            <a:ext cx="2016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시험 문제 그림 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11215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NLTK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NLTK(Natural Language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ToolKit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교육용으로 개발된 자연어 처리 및 문서 분석용 파이썬 라이브러리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다양한 기능 및 예제를 가지고 있으며 실무 및 연구에서도 많이 사용되고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NLTK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라이브러리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제공하는 주요 기능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       말뭉치</a:t>
            </a:r>
          </a:p>
          <a:p>
            <a:pPr marL="334963" lvl="1" indent="0">
              <a:buNone/>
            </a:pP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       토큰 생성</a:t>
            </a:r>
          </a:p>
          <a:p>
            <a:pPr marL="334963" lvl="1" indent="0">
              <a:buNone/>
            </a:pP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       형태소 분석</a:t>
            </a:r>
          </a:p>
          <a:p>
            <a:pPr marL="334963" lvl="1" indent="0">
              <a:buNone/>
            </a:pP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       품사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태깅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754FE6-F06C-4851-A77C-E12CD3EF3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3889856"/>
            <a:ext cx="76200" cy="76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6D14F20-0CF8-47E4-B9A8-151C8127B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4216905"/>
            <a:ext cx="76200" cy="76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54EFA36-90AA-4D15-B638-E4975EC49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4562547"/>
            <a:ext cx="76200" cy="76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8D5E46-B030-4DF6-B97A-ABE6F068E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4908189"/>
            <a:ext cx="762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62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설치한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NLTK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라이브러리를 이용하여 예제를 살펴보자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6A4005-C63D-4AC6-893A-3DD16E39B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2" y="2175356"/>
            <a:ext cx="71056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095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string1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대해 문장을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단어로 쪼갠 결과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68A3A8-4801-4D6E-8889-50B18B12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07" y="2219253"/>
            <a:ext cx="34671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3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string2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nltk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이용해서 단어 단위로 분리해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6698BC-E0E4-433D-805F-3899DC711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68" y="2334466"/>
            <a:ext cx="8950485" cy="9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214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string2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대해 문장을 단어로 분리시킨 결과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49B2BB-25FE-4FCC-8516-C72285780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76342"/>
            <a:ext cx="1133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06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 err="1">
                <a:latin typeface="KoPub돋움체_Pro Light" pitchFamily="18" charset="-127"/>
                <a:ea typeface="KoPub돋움체_Pro Light" pitchFamily="18" charset="-127"/>
              </a:rPr>
              <a:t>KoNLPy</a:t>
            </a: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KoNLPy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코엔엘파이라고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읽음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한국어 처리를 위한 파이썬 라이브러리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KoNLPy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파이썬에서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사용할 수 있는 오픈 소스 형태소 분석기로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기존에 공개된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꼬꼬마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Kkma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코모란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Komoran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한나눔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Hannanum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트위터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(Twitter)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메카브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Mecab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분석기를 한 번에 설치하고 동일한 방법으로 사용할 수 있도록 해 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973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문장을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형태소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변환한 출력 결과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E8F654-C740-40A3-A4D4-139F4FE3C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39433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390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이번에는 문장을 형태소로 변환한 후 품사를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문장을 형태소로 분해하여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품사를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태깅한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출력 결과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참고로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KoNLPy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제공하는 주요 기능은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형태소 분석</a:t>
            </a: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품사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5B36F0-2677-4229-AFC6-659CE6A82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2" y="2161646"/>
            <a:ext cx="7124700" cy="10096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310CAA5-1A2E-48EF-ACA2-E625487E7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541087"/>
            <a:ext cx="6467475" cy="8096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60B6D9-9DFB-4321-BD78-407C2C2E7C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5272424"/>
            <a:ext cx="76200" cy="76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18D24E1-8663-472A-81BD-EC0BCD07A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5618066"/>
            <a:ext cx="762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883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형태소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형태소는 언어를 쪼갤 때 의미를 가지는 최소 단위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그림은 형태소 분석을 위한 단계를 도식화한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1EA48E2B-F9ED-4AD4-B4F8-909733BA8EE0}"/>
              </a:ext>
            </a:extLst>
          </p:cNvPr>
          <p:cNvSpPr txBox="1">
            <a:spLocks/>
          </p:cNvSpPr>
          <p:nvPr/>
        </p:nvSpPr>
        <p:spPr>
          <a:xfrm>
            <a:off x="597117" y="2913424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</a:t>
            </a:r>
            <a:r>
              <a:rPr lang="ko-KR" altLang="en-US" sz="1600" b="1"/>
              <a:t>그림 </a:t>
            </a:r>
            <a:r>
              <a:rPr lang="en-US" altLang="ko-KR" sz="1600" b="1"/>
              <a:t>-14 </a:t>
            </a:r>
            <a:r>
              <a:rPr lang="ko-KR" altLang="en-US" sz="1600" b="1" dirty="0"/>
              <a:t>형태소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0AA042-742D-40F3-B7BF-8667193E4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3290900"/>
            <a:ext cx="482917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654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 err="1">
                <a:latin typeface="KoPub돋움체_Pro Light" pitchFamily="18" charset="-127"/>
                <a:ea typeface="KoPub돋움체_Pro Light" pitchFamily="18" charset="-127"/>
              </a:rPr>
              <a:t>Gensim</a:t>
            </a: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Gensim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파이썬에서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워드투벡터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(Word2Vec)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라이브러리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딥러닝 라이브러리는 아니지만 효율적이고 확장 가능하기 때문에 폭넓게 사용하고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Gensim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제공하는 주요 기능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b="1" dirty="0" err="1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워드투벡터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토픽 모델링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LDA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(Latent Dirichlet Allocation)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7C5C21-A014-4892-A7C4-0EFB4812D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3640835"/>
            <a:ext cx="76200" cy="76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056CE6-2529-4CD1-866C-250262F8D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947463"/>
            <a:ext cx="76200" cy="76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E8DB60-777A-4270-AB65-464DF9546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4293105"/>
            <a:ext cx="762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1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Gensim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사용하려면 다음 명령으로 먼저 설치해야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>
                <a:latin typeface="KoPub돋움체_Pro Light" pitchFamily="18" charset="-127"/>
                <a:ea typeface="KoPub돋움체_Pro Light" pitchFamily="18" charset="-127"/>
              </a:rPr>
              <a:t>5.1</a:t>
            </a:r>
            <a:r>
              <a:rPr lang="ko-KR" altLang="en-US">
                <a:latin typeface="KoPub돋움체_Pro Light" pitchFamily="18" charset="-127"/>
                <a:ea typeface="KoPub돋움체_Pro Light" pitchFamily="18" charset="-127"/>
              </a:rPr>
              <a:t>절에서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사용하므로 여기에서 설치</a:t>
            </a:r>
            <a:endParaRPr lang="en-US" altLang="ko-KR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F340F93-A3D5-40E4-BDF6-CCCA76981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564895"/>
            <a:ext cx="194310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747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사이킷런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사이킷런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(scikit-learn)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파이썬을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이용하여 문서를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수 있는 라이브러리를 제공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처리에서 특성 추출 용도로 많이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사이킷런에서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제공하는 주요 기능 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       </a:t>
            </a:r>
            <a:r>
              <a:rPr lang="en-US" altLang="ko-KR" b="1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Count</a:t>
            </a:r>
            <a:r>
              <a:rPr lang="en-US" altLang="ko-KR" b="1" dirty="0" err="1">
                <a:latin typeface="KoPub돋움체_Pro Light" pitchFamily="18" charset="-127"/>
                <a:ea typeface="KoPub돋움체_Pro Light" pitchFamily="18" charset="-127"/>
              </a:rPr>
              <a:t>Vectorizer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텍스트에서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단어의 등장 </a:t>
            </a:r>
            <a:r>
              <a:rPr lang="ko-KR" altLang="en-US" dirty="0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횟수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를 기준으로 특성을 추출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       </a:t>
            </a:r>
            <a:r>
              <a:rPr lang="en-US" altLang="ko-KR" b="1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Tfidf</a:t>
            </a:r>
            <a:r>
              <a:rPr lang="en-US" altLang="ko-KR" b="1" dirty="0" err="1">
                <a:latin typeface="KoPub돋움체_Pro Light" pitchFamily="18" charset="-127"/>
                <a:ea typeface="KoPub돋움체_Pro Light" pitchFamily="18" charset="-127"/>
              </a:rPr>
              <a:t>vectorizer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TF-IDF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값을 사용해서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텍스트에서 특성을 추출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       </a:t>
            </a:r>
            <a:r>
              <a:rPr lang="en-US" altLang="ko-KR" b="1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Hashing</a:t>
            </a:r>
            <a:r>
              <a:rPr lang="en-US" altLang="ko-KR" b="1" dirty="0" err="1">
                <a:latin typeface="KoPub돋움체_Pro Light" pitchFamily="18" charset="-127"/>
                <a:ea typeface="KoPub돋움체_Pro Light" pitchFamily="18" charset="-127"/>
              </a:rPr>
              <a:t>Vectorizer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: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CountVectorizer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와 방법이 동일하지만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텍스트를 처리할 때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해시 함수를 사용하기 때문에 실행 시간이 감소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7C5C21-A014-4892-A7C4-0EFB4812D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4594" y="3871263"/>
            <a:ext cx="172821" cy="1728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056CE6-2529-4CD1-866C-250262F8D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3187" y="4177891"/>
            <a:ext cx="172821" cy="17282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E8DB60-777A-4270-AB65-464DF9546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3187" y="4523533"/>
            <a:ext cx="172821" cy="1728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DFDDD5-1784-4B74-98B5-FE48E826EDA8}"/>
              </a:ext>
            </a:extLst>
          </p:cNvPr>
          <p:cNvSpPr txBox="1"/>
          <p:nvPr/>
        </p:nvSpPr>
        <p:spPr>
          <a:xfrm>
            <a:off x="2152506" y="181600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4963" lvl="1" indent="0">
              <a:buNone/>
            </a:pPr>
            <a:r>
              <a:rPr lang="ko-KR" altLang="en-US" sz="1800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머신러닝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대표 라이브러리</a:t>
            </a:r>
            <a:endParaRPr lang="en-US" altLang="ko-KR" sz="1800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5316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7293</TotalTime>
  <Words>1180</Words>
  <Application>Microsoft Office PowerPoint</Application>
  <PresentationFormat>화면 슬라이드 쇼(4:3)</PresentationFormat>
  <Paragraphs>185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29</vt:i4>
      </vt:variant>
    </vt:vector>
  </HeadingPairs>
  <TitlesOfParts>
    <vt:vector size="39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4.1      4.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  <vt:lpstr>4.1 자연어 처리란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109-2</cp:lastModifiedBy>
  <cp:revision>1130</cp:revision>
  <cp:lastPrinted>2016-08-10T06:58:55Z</cp:lastPrinted>
  <dcterms:created xsi:type="dcterms:W3CDTF">2013-04-05T19:58:06Z</dcterms:created>
  <dcterms:modified xsi:type="dcterms:W3CDTF">2025-04-01T02:13:52Z</dcterms:modified>
</cp:coreProperties>
</file>